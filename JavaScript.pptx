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2" r:id="rId1"/>
  </p:sldMasterIdLst>
  <p:sldIdLst>
    <p:sldId id="256" r:id="rId2"/>
    <p:sldId id="257" r:id="rId3"/>
    <p:sldId id="258" r:id="rId4"/>
    <p:sldId id="259" r:id="rId5"/>
    <p:sldId id="260" r:id="rId6"/>
    <p:sldId id="261" r:id="rId7"/>
    <p:sldId id="262" r:id="rId8"/>
    <p:sldId id="263" r:id="rId9"/>
    <p:sldId id="264" r:id="rId1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00" autoAdjust="0"/>
    <p:restoredTop sz="94660"/>
  </p:normalViewPr>
  <p:slideViewPr>
    <p:cSldViewPr snapToGrid="0">
      <p:cViewPr varScale="1">
        <p:scale>
          <a:sx n="73" d="100"/>
          <a:sy n="73" d="100"/>
        </p:scale>
        <p:origin x="618" y="7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smtClean="0"/>
              <a:t>Click to edit Master title style</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US" dirty="0"/>
          </a:p>
        </p:txBody>
      </p:sp>
      <p:sp>
        <p:nvSpPr>
          <p:cNvPr id="4" name="Date Placeholder 3"/>
          <p:cNvSpPr>
            <a:spLocks noGrp="1"/>
          </p:cNvSpPr>
          <p:nvPr>
            <p:ph type="dt" sz="half" idx="10"/>
          </p:nvPr>
        </p:nvSpPr>
        <p:spPr/>
        <p:txBody>
          <a:bodyPr/>
          <a:lstStyle/>
          <a:p>
            <a:fld id="{2A74FA61-1583-4A85-B5DF-A6689351D63A}" type="datetimeFigureOut">
              <a:rPr lang="en-IN" smtClean="0"/>
              <a:t>14-09-2022</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390D9383-D4C6-439D-BDCB-B81B1CD0ED63}" type="slidenum">
              <a:rPr lang="en-IN" smtClean="0"/>
              <a:t>‹#›</a:t>
            </a:fld>
            <a:endParaRPr lang="en-IN"/>
          </a:p>
        </p:txBody>
      </p:sp>
    </p:spTree>
    <p:extLst>
      <p:ext uri="{BB962C8B-B14F-4D97-AF65-F5344CB8AC3E}">
        <p14:creationId xmlns:p14="http://schemas.microsoft.com/office/powerpoint/2010/main" val="183088810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idx="1"/>
          </p:nvPr>
        </p:nvSpPr>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2A74FA61-1583-4A85-B5DF-A6689351D63A}" type="datetimeFigureOut">
              <a:rPr lang="en-IN" smtClean="0"/>
              <a:t>14-09-2022</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390D9383-D4C6-439D-BDCB-B81B1CD0ED63}" type="slidenum">
              <a:rPr lang="en-IN" smtClean="0"/>
              <a:t>‹#›</a:t>
            </a:fld>
            <a:endParaRPr lang="en-IN"/>
          </a:p>
        </p:txBody>
      </p:sp>
    </p:spTree>
    <p:extLst>
      <p:ext uri="{BB962C8B-B14F-4D97-AF65-F5344CB8AC3E}">
        <p14:creationId xmlns:p14="http://schemas.microsoft.com/office/powerpoint/2010/main" val="127671738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smtClean="0"/>
              <a:t>Click to edit Master title style</a:t>
            </a:r>
            <a:endParaRPr lang="en-US" dirty="0"/>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2A74FA61-1583-4A85-B5DF-A6689351D63A}" type="datetimeFigureOut">
              <a:rPr lang="en-IN" smtClean="0"/>
              <a:t>14-09-2022</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390D9383-D4C6-439D-BDCB-B81B1CD0ED63}" type="slidenum">
              <a:rPr lang="en-IN" smtClean="0"/>
              <a:t>‹#›</a:t>
            </a:fld>
            <a:endParaRPr lang="en-IN"/>
          </a:p>
        </p:txBody>
      </p:sp>
    </p:spTree>
    <p:extLst>
      <p:ext uri="{BB962C8B-B14F-4D97-AF65-F5344CB8AC3E}">
        <p14:creationId xmlns:p14="http://schemas.microsoft.com/office/powerpoint/2010/main" val="427042679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sz="half" idx="1"/>
          </p:nvPr>
        </p:nvSpPr>
        <p:spPr>
          <a:xfrm>
            <a:off x="838200" y="1825625"/>
            <a:ext cx="5181600" cy="435133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6172200" y="1825625"/>
            <a:ext cx="5181600" cy="435133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Date Placeholder 4"/>
          <p:cNvSpPr>
            <a:spLocks noGrp="1"/>
          </p:cNvSpPr>
          <p:nvPr>
            <p:ph type="dt" sz="half" idx="10"/>
          </p:nvPr>
        </p:nvSpPr>
        <p:spPr/>
        <p:txBody>
          <a:bodyPr/>
          <a:lstStyle/>
          <a:p>
            <a:fld id="{2A74FA61-1583-4A85-B5DF-A6689351D63A}" type="datetimeFigureOut">
              <a:rPr lang="en-IN" smtClean="0"/>
              <a:t>14-09-2022</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390D9383-D4C6-439D-BDCB-B81B1CD0ED63}" type="slidenum">
              <a:rPr lang="en-IN" smtClean="0"/>
              <a:t>‹#›</a:t>
            </a:fld>
            <a:endParaRPr lang="en-IN"/>
          </a:p>
        </p:txBody>
      </p:sp>
    </p:spTree>
    <p:extLst>
      <p:ext uri="{BB962C8B-B14F-4D97-AF65-F5344CB8AC3E}">
        <p14:creationId xmlns:p14="http://schemas.microsoft.com/office/powerpoint/2010/main" val="132176734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smtClean="0"/>
              <a:t>Click to edit Master title style</a:t>
            </a:r>
            <a:endParaRPr lang="en-US" dirty="0"/>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7" name="Date Placeholder 6"/>
          <p:cNvSpPr>
            <a:spLocks noGrp="1"/>
          </p:cNvSpPr>
          <p:nvPr>
            <p:ph type="dt" sz="half" idx="10"/>
          </p:nvPr>
        </p:nvSpPr>
        <p:spPr/>
        <p:txBody>
          <a:bodyPr/>
          <a:lstStyle/>
          <a:p>
            <a:fld id="{2A74FA61-1583-4A85-B5DF-A6689351D63A}" type="datetimeFigureOut">
              <a:rPr lang="en-IN" smtClean="0"/>
              <a:t>14-09-2022</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390D9383-D4C6-439D-BDCB-B81B1CD0ED63}" type="slidenum">
              <a:rPr lang="en-IN" smtClean="0"/>
              <a:t>‹#›</a:t>
            </a:fld>
            <a:endParaRPr lang="en-IN"/>
          </a:p>
        </p:txBody>
      </p:sp>
    </p:spTree>
    <p:extLst>
      <p:ext uri="{BB962C8B-B14F-4D97-AF65-F5344CB8AC3E}">
        <p14:creationId xmlns:p14="http://schemas.microsoft.com/office/powerpoint/2010/main" val="147341765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Date Placeholder 2"/>
          <p:cNvSpPr>
            <a:spLocks noGrp="1"/>
          </p:cNvSpPr>
          <p:nvPr>
            <p:ph type="dt" sz="half" idx="10"/>
          </p:nvPr>
        </p:nvSpPr>
        <p:spPr/>
        <p:txBody>
          <a:bodyPr/>
          <a:lstStyle/>
          <a:p>
            <a:fld id="{2A74FA61-1583-4A85-B5DF-A6689351D63A}" type="datetimeFigureOut">
              <a:rPr lang="en-IN" smtClean="0"/>
              <a:t>14-09-2022</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390D9383-D4C6-439D-BDCB-B81B1CD0ED63}" type="slidenum">
              <a:rPr lang="en-IN" smtClean="0"/>
              <a:t>‹#›</a:t>
            </a:fld>
            <a:endParaRPr lang="en-IN"/>
          </a:p>
        </p:txBody>
      </p:sp>
    </p:spTree>
    <p:extLst>
      <p:ext uri="{BB962C8B-B14F-4D97-AF65-F5344CB8AC3E}">
        <p14:creationId xmlns:p14="http://schemas.microsoft.com/office/powerpoint/2010/main" val="108132197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A74FA61-1583-4A85-B5DF-A6689351D63A}" type="datetimeFigureOut">
              <a:rPr lang="en-IN" smtClean="0"/>
              <a:t>14-09-2022</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390D9383-D4C6-439D-BDCB-B81B1CD0ED63}" type="slidenum">
              <a:rPr lang="en-IN" smtClean="0"/>
              <a:t>‹#›</a:t>
            </a:fld>
            <a:endParaRPr lang="en-IN"/>
          </a:p>
        </p:txBody>
      </p:sp>
    </p:spTree>
    <p:extLst>
      <p:ext uri="{BB962C8B-B14F-4D97-AF65-F5344CB8AC3E}">
        <p14:creationId xmlns:p14="http://schemas.microsoft.com/office/powerpoint/2010/main" val="51814875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dirty="0"/>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2A74FA61-1583-4A85-B5DF-A6689351D63A}" type="datetimeFigureOut">
              <a:rPr lang="en-IN" smtClean="0"/>
              <a:t>14-09-2022</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390D9383-D4C6-439D-BDCB-B81B1CD0ED63}" type="slidenum">
              <a:rPr lang="en-IN" smtClean="0"/>
              <a:t>‹#›</a:t>
            </a:fld>
            <a:endParaRPr lang="en-IN"/>
          </a:p>
        </p:txBody>
      </p:sp>
    </p:spTree>
    <p:extLst>
      <p:ext uri="{BB962C8B-B14F-4D97-AF65-F5344CB8AC3E}">
        <p14:creationId xmlns:p14="http://schemas.microsoft.com/office/powerpoint/2010/main" val="56440276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dirty="0"/>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Click icon to add picture</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2A74FA61-1583-4A85-B5DF-A6689351D63A}" type="datetimeFigureOut">
              <a:rPr lang="en-IN" smtClean="0"/>
              <a:t>14-09-2022</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390D9383-D4C6-439D-BDCB-B81B1CD0ED63}" type="slidenum">
              <a:rPr lang="en-IN" smtClean="0"/>
              <a:t>‹#›</a:t>
            </a:fld>
            <a:endParaRPr lang="en-IN"/>
          </a:p>
        </p:txBody>
      </p:sp>
    </p:spTree>
    <p:extLst>
      <p:ext uri="{BB962C8B-B14F-4D97-AF65-F5344CB8AC3E}">
        <p14:creationId xmlns:p14="http://schemas.microsoft.com/office/powerpoint/2010/main" val="186403247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2A74FA61-1583-4A85-B5DF-A6689351D63A}" type="datetimeFigureOut">
              <a:rPr lang="en-IN" smtClean="0"/>
              <a:t>14-09-2022</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390D9383-D4C6-439D-BDCB-B81B1CD0ED63}" type="slidenum">
              <a:rPr lang="en-IN" smtClean="0"/>
              <a:t>‹#›</a:t>
            </a:fld>
            <a:endParaRPr lang="en-IN"/>
          </a:p>
        </p:txBody>
      </p:sp>
    </p:spTree>
    <p:extLst>
      <p:ext uri="{BB962C8B-B14F-4D97-AF65-F5344CB8AC3E}">
        <p14:creationId xmlns:p14="http://schemas.microsoft.com/office/powerpoint/2010/main" val="383033847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2A74FA61-1583-4A85-B5DF-A6689351D63A}" type="datetimeFigureOut">
              <a:rPr lang="en-IN" smtClean="0"/>
              <a:t>14-09-2022</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390D9383-D4C6-439D-BDCB-B81B1CD0ED63}" type="slidenum">
              <a:rPr lang="en-IN" smtClean="0"/>
              <a:t>‹#›</a:t>
            </a:fld>
            <a:endParaRPr lang="en-IN"/>
          </a:p>
        </p:txBody>
      </p:sp>
    </p:spTree>
    <p:extLst>
      <p:ext uri="{BB962C8B-B14F-4D97-AF65-F5344CB8AC3E}">
        <p14:creationId xmlns:p14="http://schemas.microsoft.com/office/powerpoint/2010/main" val="200809241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smtClean="0"/>
              <a:t>Click to edit Master title style</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A74FA61-1583-4A85-B5DF-A6689351D63A}" type="datetimeFigureOut">
              <a:rPr lang="en-IN" smtClean="0"/>
              <a:t>14-09-2022</a:t>
            </a:fld>
            <a:endParaRPr lang="en-IN"/>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390D9383-D4C6-439D-BDCB-B81B1CD0ED63}" type="slidenum">
              <a:rPr lang="en-IN" smtClean="0"/>
              <a:t>‹#›</a:t>
            </a:fld>
            <a:endParaRPr lang="en-IN"/>
          </a:p>
        </p:txBody>
      </p:sp>
    </p:spTree>
    <p:extLst>
      <p:ext uri="{BB962C8B-B14F-4D97-AF65-F5344CB8AC3E}">
        <p14:creationId xmlns:p14="http://schemas.microsoft.com/office/powerpoint/2010/main" val="2086749345"/>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1150574"/>
          </a:xfrm>
        </p:spPr>
        <p:txBody>
          <a:bodyPr/>
          <a:lstStyle/>
          <a:p>
            <a:r>
              <a:rPr lang="en-IN" b="1"/>
              <a:t>Introduction</a:t>
            </a:r>
            <a:endParaRPr lang="en-IN"/>
          </a:p>
        </p:txBody>
      </p:sp>
      <p:sp>
        <p:nvSpPr>
          <p:cNvPr id="3" name="Subtitle 2"/>
          <p:cNvSpPr>
            <a:spLocks noGrp="1"/>
          </p:cNvSpPr>
          <p:nvPr>
            <p:ph type="subTitle" idx="1"/>
          </p:nvPr>
        </p:nvSpPr>
        <p:spPr>
          <a:xfrm>
            <a:off x="1524000" y="2272937"/>
            <a:ext cx="9144000" cy="4232366"/>
          </a:xfrm>
        </p:spPr>
        <p:txBody>
          <a:bodyPr>
            <a:normAutofit lnSpcReduction="10000"/>
          </a:bodyPr>
          <a:lstStyle/>
          <a:p>
            <a:r>
              <a:rPr lang="en-IN" b="1" dirty="0"/>
              <a:t>History of </a:t>
            </a:r>
            <a:r>
              <a:rPr lang="en-IN" b="1" dirty="0" smtClean="0"/>
              <a:t>JavaScript:</a:t>
            </a:r>
          </a:p>
          <a:p>
            <a:r>
              <a:rPr lang="en-IN" dirty="0" smtClean="0"/>
              <a:t>It </a:t>
            </a:r>
            <a:r>
              <a:rPr lang="en-IN" dirty="0"/>
              <a:t>was created in 1995 by Brendan </a:t>
            </a:r>
            <a:r>
              <a:rPr lang="en-IN" dirty="0" err="1"/>
              <a:t>Eich</a:t>
            </a:r>
            <a:r>
              <a:rPr lang="en-IN" dirty="0"/>
              <a:t> while he was an engineer at Netscape. It was originally going to be named </a:t>
            </a:r>
            <a:r>
              <a:rPr lang="en-IN" dirty="0" err="1"/>
              <a:t>LiveScript</a:t>
            </a:r>
            <a:r>
              <a:rPr lang="en-IN" dirty="0"/>
              <a:t> but was renamed. Unlike most programming languages, the JavaScript </a:t>
            </a:r>
            <a:r>
              <a:rPr lang="en-IN" dirty="0" smtClean="0"/>
              <a:t>language has </a:t>
            </a:r>
            <a:r>
              <a:rPr lang="en-IN" dirty="0"/>
              <a:t>no concept of input or output</a:t>
            </a:r>
          </a:p>
          <a:p>
            <a:r>
              <a:rPr lang="en-IN" dirty="0"/>
              <a:t>JavaScript is a lightweight, cross-platform, and interpreted compiled programming language which is also known as the scripting language for webpages. It is well-known for the development of web pages, many non-browser environments also use it. JavaScript can be used for Client-side developments as well as Server-side developments. </a:t>
            </a:r>
            <a:r>
              <a:rPr lang="en-IN" dirty="0" err="1"/>
              <a:t>Javascript</a:t>
            </a:r>
            <a:r>
              <a:rPr lang="en-IN" dirty="0"/>
              <a:t> is both imperative and declarative type of language. JavaScript contains a standard library of objects, like Array, Date, and Math, and a core set of language elements like operators, control structures, and statements. </a:t>
            </a:r>
          </a:p>
          <a:p>
            <a:endParaRPr lang="en-IN" dirty="0"/>
          </a:p>
          <a:p>
            <a:endParaRPr lang="en-IN" dirty="0"/>
          </a:p>
        </p:txBody>
      </p:sp>
    </p:spTree>
    <p:extLst>
      <p:ext uri="{BB962C8B-B14F-4D97-AF65-F5344CB8AC3E}">
        <p14:creationId xmlns:p14="http://schemas.microsoft.com/office/powerpoint/2010/main" val="2759707147"/>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1176291"/>
          </a:xfrm>
        </p:spPr>
        <p:txBody>
          <a:bodyPr>
            <a:normAutofit fontScale="90000"/>
          </a:bodyPr>
          <a:lstStyle/>
          <a:p>
            <a:r>
              <a:rPr lang="en-IN" b="1" dirty="0"/>
              <a:t>What is JavaScript?</a:t>
            </a:r>
            <a:r>
              <a:rPr lang="en-IN" dirty="0"/>
              <a:t/>
            </a:r>
            <a:br>
              <a:rPr lang="en-IN" dirty="0"/>
            </a:br>
            <a:endParaRPr lang="en-IN" dirty="0"/>
          </a:p>
        </p:txBody>
      </p:sp>
      <p:sp>
        <p:nvSpPr>
          <p:cNvPr id="3" name="Content Placeholder 2"/>
          <p:cNvSpPr>
            <a:spLocks noGrp="1"/>
          </p:cNvSpPr>
          <p:nvPr>
            <p:ph idx="1"/>
          </p:nvPr>
        </p:nvSpPr>
        <p:spPr>
          <a:xfrm>
            <a:off x="838200" y="1227909"/>
            <a:ext cx="10515600" cy="4637314"/>
          </a:xfrm>
        </p:spPr>
        <p:txBody>
          <a:bodyPr/>
          <a:lstStyle/>
          <a:p>
            <a:r>
              <a:rPr lang="en-IN" dirty="0"/>
              <a:t>JavaScript is the Programming Language for the Web.</a:t>
            </a:r>
          </a:p>
          <a:p>
            <a:r>
              <a:rPr lang="en-IN" dirty="0"/>
              <a:t>JavaScript can update and change both HTML and CSS.</a:t>
            </a:r>
          </a:p>
          <a:p>
            <a:r>
              <a:rPr lang="en-IN" dirty="0"/>
              <a:t>JavaScript can calculate, manipulate and validate data.</a:t>
            </a:r>
          </a:p>
          <a:p>
            <a:r>
              <a:rPr lang="en-IN" dirty="0"/>
              <a:t>The JavaScript supported in the browsers typically support additional object.</a:t>
            </a:r>
          </a:p>
          <a:p>
            <a:r>
              <a:rPr lang="en-IN" dirty="0" err="1"/>
              <a:t>e.g</a:t>
            </a:r>
            <a:r>
              <a:rPr lang="en-IN" dirty="0"/>
              <a:t> Window, Frame ,</a:t>
            </a:r>
            <a:r>
              <a:rPr lang="en-IN" dirty="0" err="1"/>
              <a:t>form,Dom</a:t>
            </a:r>
            <a:r>
              <a:rPr lang="en-IN" dirty="0"/>
              <a:t>, </a:t>
            </a:r>
            <a:r>
              <a:rPr lang="en-IN" dirty="0" err="1"/>
              <a:t>Object,etc</a:t>
            </a:r>
            <a:r>
              <a:rPr lang="en-IN" dirty="0"/>
              <a:t>.</a:t>
            </a:r>
          </a:p>
        </p:txBody>
      </p:sp>
    </p:spTree>
    <p:extLst>
      <p:ext uri="{BB962C8B-B14F-4D97-AF65-F5344CB8AC3E}">
        <p14:creationId xmlns:p14="http://schemas.microsoft.com/office/powerpoint/2010/main" val="429180809"/>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058092" y="890746"/>
            <a:ext cx="8203474" cy="5507149"/>
          </a:xfrm>
          <a:prstGeom prst="rect">
            <a:avLst/>
          </a:prstGeom>
        </p:spPr>
        <p:txBody>
          <a:bodyPr wrap="square">
            <a:spAutoFit/>
          </a:bodyPr>
          <a:lstStyle/>
          <a:p>
            <a:pPr>
              <a:lnSpc>
                <a:spcPct val="115000"/>
              </a:lnSpc>
              <a:spcAft>
                <a:spcPts val="1000"/>
              </a:spcAft>
            </a:pPr>
            <a:r>
              <a:rPr lang="en-IN" sz="2400" b="1" dirty="0">
                <a:solidFill>
                  <a:srgbClr val="FF0000"/>
                </a:solidFill>
                <a:latin typeface="Calibri" panose="020F0502020204030204" pitchFamily="34" charset="0"/>
                <a:ea typeface="Times New Roman" panose="02020603050405020304" pitchFamily="18" charset="0"/>
                <a:cs typeface="Calibri" panose="020F0502020204030204" pitchFamily="34" charset="0"/>
              </a:rPr>
              <a:t>JavaScript/JScript</a:t>
            </a:r>
            <a:endParaRPr lang="en-IN" sz="2400" dirty="0">
              <a:latin typeface="Calibri" panose="020F0502020204030204" pitchFamily="34" charset="0"/>
              <a:ea typeface="Times New Roman" panose="02020603050405020304" pitchFamily="18" charset="0"/>
              <a:cs typeface="Times New Roman" panose="02020603050405020304" pitchFamily="18" charset="0"/>
            </a:endParaRPr>
          </a:p>
          <a:p>
            <a:pPr>
              <a:lnSpc>
                <a:spcPct val="115000"/>
              </a:lnSpc>
              <a:spcAft>
                <a:spcPts val="1000"/>
              </a:spcAft>
            </a:pPr>
            <a:r>
              <a:rPr lang="en-IN" sz="2000" dirty="0">
                <a:solidFill>
                  <a:srgbClr val="000000"/>
                </a:solidFill>
                <a:latin typeface="Calibri" panose="020F0502020204030204" pitchFamily="34" charset="0"/>
                <a:ea typeface="Times New Roman" panose="02020603050405020304" pitchFamily="18" charset="0"/>
                <a:cs typeface="Calibri" panose="020F0502020204030204" pitchFamily="34" charset="0"/>
              </a:rPr>
              <a:t>Different  brands or/and different version of browsers may support different implementation of JavaScript</a:t>
            </a:r>
            <a:endParaRPr lang="en-IN" sz="2000" dirty="0">
              <a:latin typeface="Calibri" panose="020F0502020204030204" pitchFamily="34" charset="0"/>
              <a:ea typeface="Times New Roman" panose="02020603050405020304" pitchFamily="18" charset="0"/>
              <a:cs typeface="Times New Roman" panose="02020603050405020304" pitchFamily="18" charset="0"/>
            </a:endParaRPr>
          </a:p>
          <a:p>
            <a:pPr>
              <a:lnSpc>
                <a:spcPct val="115000"/>
              </a:lnSpc>
              <a:spcAft>
                <a:spcPts val="1000"/>
              </a:spcAft>
            </a:pPr>
            <a:r>
              <a:rPr lang="en-IN" sz="2000" dirty="0">
                <a:solidFill>
                  <a:srgbClr val="000000"/>
                </a:solidFill>
                <a:latin typeface="Calibri" panose="020F0502020204030204" pitchFamily="34" charset="0"/>
                <a:ea typeface="Times New Roman" panose="02020603050405020304" pitchFamily="18" charset="0"/>
                <a:cs typeface="Calibri" panose="020F0502020204030204" pitchFamily="34" charset="0"/>
              </a:rPr>
              <a:t>They are not fully compatible.</a:t>
            </a:r>
            <a:endParaRPr lang="en-IN" sz="2000" dirty="0">
              <a:latin typeface="Calibri" panose="020F0502020204030204" pitchFamily="34" charset="0"/>
              <a:ea typeface="Times New Roman" panose="02020603050405020304" pitchFamily="18" charset="0"/>
              <a:cs typeface="Times New Roman" panose="02020603050405020304" pitchFamily="18" charset="0"/>
            </a:endParaRPr>
          </a:p>
          <a:p>
            <a:pPr>
              <a:lnSpc>
                <a:spcPct val="115000"/>
              </a:lnSpc>
              <a:spcAft>
                <a:spcPts val="1000"/>
              </a:spcAft>
            </a:pPr>
            <a:r>
              <a:rPr lang="en-IN" sz="2000" dirty="0">
                <a:solidFill>
                  <a:srgbClr val="000000"/>
                </a:solidFill>
                <a:latin typeface="Calibri" panose="020F0502020204030204" pitchFamily="34" charset="0"/>
                <a:ea typeface="Times New Roman" panose="02020603050405020304" pitchFamily="18" charset="0"/>
                <a:cs typeface="Calibri" panose="020F0502020204030204" pitchFamily="34" charset="0"/>
              </a:rPr>
              <a:t>JavaScript is the Microsoft version of JavaScript.</a:t>
            </a:r>
            <a:endParaRPr lang="en-IN" sz="2000" dirty="0">
              <a:latin typeface="Calibri" panose="020F0502020204030204" pitchFamily="34" charset="0"/>
              <a:ea typeface="Times New Roman" panose="02020603050405020304" pitchFamily="18" charset="0"/>
              <a:cs typeface="Times New Roman" panose="02020603050405020304" pitchFamily="18" charset="0"/>
            </a:endParaRPr>
          </a:p>
          <a:p>
            <a:pPr>
              <a:lnSpc>
                <a:spcPct val="115000"/>
              </a:lnSpc>
              <a:spcAft>
                <a:spcPts val="1000"/>
              </a:spcAft>
            </a:pPr>
            <a:r>
              <a:rPr lang="en-IN" sz="2400" b="1" dirty="0">
                <a:solidFill>
                  <a:srgbClr val="FF0000"/>
                </a:solidFill>
                <a:latin typeface="Calibri" panose="020F0502020204030204" pitchFamily="34" charset="0"/>
                <a:ea typeface="Times New Roman" panose="02020603050405020304" pitchFamily="18" charset="0"/>
                <a:cs typeface="Calibri" panose="020F0502020204030204" pitchFamily="34" charset="0"/>
              </a:rPr>
              <a:t>What is JavaScript used for?</a:t>
            </a:r>
            <a:endParaRPr lang="en-IN" sz="2400" dirty="0">
              <a:latin typeface="Calibri" panose="020F0502020204030204" pitchFamily="34" charset="0"/>
              <a:ea typeface="Times New Roman" panose="02020603050405020304" pitchFamily="18" charset="0"/>
              <a:cs typeface="Times New Roman" panose="02020603050405020304" pitchFamily="18" charset="0"/>
            </a:endParaRPr>
          </a:p>
          <a:p>
            <a:pPr>
              <a:lnSpc>
                <a:spcPct val="115000"/>
              </a:lnSpc>
              <a:spcAft>
                <a:spcPts val="1000"/>
              </a:spcAft>
            </a:pPr>
            <a:r>
              <a:rPr lang="en-IN" sz="2000" dirty="0">
                <a:solidFill>
                  <a:srgbClr val="000000"/>
                </a:solidFill>
                <a:latin typeface="Calibri" panose="020F0502020204030204" pitchFamily="34" charset="0"/>
                <a:ea typeface="Times New Roman" panose="02020603050405020304" pitchFamily="18" charset="0"/>
                <a:cs typeface="Calibri" panose="020F0502020204030204" pitchFamily="34" charset="0"/>
              </a:rPr>
              <a:t>Adding interactive </a:t>
            </a:r>
            <a:r>
              <a:rPr lang="en-IN" sz="2000" dirty="0" err="1">
                <a:solidFill>
                  <a:srgbClr val="000000"/>
                </a:solidFill>
                <a:latin typeface="Calibri" panose="020F0502020204030204" pitchFamily="34" charset="0"/>
                <a:ea typeface="Times New Roman" panose="02020603050405020304" pitchFamily="18" charset="0"/>
                <a:cs typeface="Calibri" panose="020F0502020204030204" pitchFamily="34" charset="0"/>
              </a:rPr>
              <a:t>behavior</a:t>
            </a:r>
            <a:r>
              <a:rPr lang="en-IN" sz="2000" dirty="0">
                <a:solidFill>
                  <a:srgbClr val="000000"/>
                </a:solidFill>
                <a:latin typeface="Calibri" panose="020F0502020204030204" pitchFamily="34" charset="0"/>
                <a:ea typeface="Times New Roman" panose="02020603050405020304" pitchFamily="18" charset="0"/>
                <a:cs typeface="Calibri" panose="020F0502020204030204" pitchFamily="34" charset="0"/>
              </a:rPr>
              <a:t> to web pages. JavaScript allows users to interact with web pages. ...</a:t>
            </a:r>
            <a:endParaRPr lang="en-IN" sz="2000" dirty="0">
              <a:latin typeface="Calibri" panose="020F0502020204030204" pitchFamily="34" charset="0"/>
              <a:ea typeface="Times New Roman" panose="02020603050405020304" pitchFamily="18" charset="0"/>
              <a:cs typeface="Times New Roman" panose="02020603050405020304" pitchFamily="18" charset="0"/>
            </a:endParaRPr>
          </a:p>
          <a:p>
            <a:pPr>
              <a:lnSpc>
                <a:spcPct val="115000"/>
              </a:lnSpc>
              <a:spcAft>
                <a:spcPts val="1000"/>
              </a:spcAft>
            </a:pPr>
            <a:r>
              <a:rPr lang="en-IN" sz="2000" dirty="0">
                <a:solidFill>
                  <a:srgbClr val="000000"/>
                </a:solidFill>
                <a:latin typeface="Calibri" panose="020F0502020204030204" pitchFamily="34" charset="0"/>
                <a:ea typeface="Times New Roman" panose="02020603050405020304" pitchFamily="18" charset="0"/>
                <a:cs typeface="Calibri" panose="020F0502020204030204" pitchFamily="34" charset="0"/>
              </a:rPr>
              <a:t>Creating web and mobile apps. Developers can use various JavaScript frameworks for developing and building web and mobile apps. ...</a:t>
            </a:r>
            <a:endParaRPr lang="en-IN" sz="2000" dirty="0">
              <a:latin typeface="Calibri" panose="020F0502020204030204" pitchFamily="34" charset="0"/>
              <a:ea typeface="Times New Roman" panose="02020603050405020304" pitchFamily="18" charset="0"/>
              <a:cs typeface="Times New Roman" panose="02020603050405020304" pitchFamily="18" charset="0"/>
            </a:endParaRPr>
          </a:p>
          <a:p>
            <a:pPr>
              <a:lnSpc>
                <a:spcPct val="115000"/>
              </a:lnSpc>
              <a:spcAft>
                <a:spcPts val="1000"/>
              </a:spcAft>
            </a:pPr>
            <a:r>
              <a:rPr lang="en-IN" sz="2000" dirty="0">
                <a:solidFill>
                  <a:srgbClr val="000000"/>
                </a:solidFill>
                <a:latin typeface="Calibri" panose="020F0502020204030204" pitchFamily="34" charset="0"/>
                <a:ea typeface="Times New Roman" panose="02020603050405020304" pitchFamily="18" charset="0"/>
                <a:cs typeface="Calibri" panose="020F0502020204030204" pitchFamily="34" charset="0"/>
              </a:rPr>
              <a:t>Building web servers and developing server applications. ...</a:t>
            </a:r>
            <a:endParaRPr lang="en-IN" sz="2000" dirty="0">
              <a:latin typeface="Calibri" panose="020F0502020204030204" pitchFamily="34" charset="0"/>
              <a:ea typeface="Times New Roman" panose="02020603050405020304" pitchFamily="18" charset="0"/>
              <a:cs typeface="Times New Roman" panose="02020603050405020304" pitchFamily="18" charset="0"/>
            </a:endParaRPr>
          </a:p>
          <a:p>
            <a:pPr>
              <a:lnSpc>
                <a:spcPct val="115000"/>
              </a:lnSpc>
              <a:spcAft>
                <a:spcPts val="1000"/>
              </a:spcAft>
            </a:pPr>
            <a:r>
              <a:rPr lang="en-IN" sz="2000" dirty="0">
                <a:solidFill>
                  <a:srgbClr val="000000"/>
                </a:solidFill>
                <a:latin typeface="Calibri" panose="020F0502020204030204" pitchFamily="34" charset="0"/>
                <a:ea typeface="Times New Roman" panose="02020603050405020304" pitchFamily="18" charset="0"/>
                <a:cs typeface="Calibri" panose="020F0502020204030204" pitchFamily="34" charset="0"/>
              </a:rPr>
              <a:t>Game development.</a:t>
            </a:r>
            <a:endParaRPr lang="en-IN" sz="2000" dirty="0">
              <a:latin typeface="Calibri" panose="020F0502020204030204" pitchFamily="34" charset="0"/>
              <a:ea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50327697"/>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444137" y="1757004"/>
            <a:ext cx="8699863" cy="3167021"/>
          </a:xfrm>
          <a:prstGeom prst="rect">
            <a:avLst/>
          </a:prstGeom>
        </p:spPr>
        <p:txBody>
          <a:bodyPr wrap="square">
            <a:spAutoFit/>
          </a:bodyPr>
          <a:lstStyle/>
          <a:p>
            <a:pPr>
              <a:lnSpc>
                <a:spcPct val="115000"/>
              </a:lnSpc>
              <a:spcAft>
                <a:spcPts val="1000"/>
              </a:spcAft>
            </a:pPr>
            <a:r>
              <a:rPr lang="en-IN" sz="3200" dirty="0">
                <a:solidFill>
                  <a:srgbClr val="FF0000"/>
                </a:solidFill>
                <a:latin typeface="Calibri" panose="020F0502020204030204" pitchFamily="34" charset="0"/>
                <a:ea typeface="Times New Roman" panose="02020603050405020304" pitchFamily="18" charset="0"/>
                <a:cs typeface="Calibri" panose="020F0502020204030204" pitchFamily="34" charset="0"/>
              </a:rPr>
              <a:t>The script tag takes two important attributes:-</a:t>
            </a:r>
            <a:endParaRPr lang="en-IN" sz="3200" dirty="0">
              <a:latin typeface="Calibri" panose="020F0502020204030204" pitchFamily="34" charset="0"/>
              <a:ea typeface="Times New Roman" panose="02020603050405020304" pitchFamily="18" charset="0"/>
              <a:cs typeface="Times New Roman" panose="02020603050405020304" pitchFamily="18" charset="0"/>
            </a:endParaRPr>
          </a:p>
          <a:p>
            <a:pPr>
              <a:lnSpc>
                <a:spcPct val="115000"/>
              </a:lnSpc>
              <a:spcAft>
                <a:spcPts val="1000"/>
              </a:spcAft>
            </a:pPr>
            <a:r>
              <a:rPr lang="en-IN" sz="2000" dirty="0">
                <a:solidFill>
                  <a:srgbClr val="000000"/>
                </a:solidFill>
                <a:latin typeface="Calibri" panose="020F0502020204030204" pitchFamily="34" charset="0"/>
                <a:ea typeface="Times New Roman" panose="02020603050405020304" pitchFamily="18" charset="0"/>
                <a:cs typeface="Calibri" panose="020F0502020204030204" pitchFamily="34" charset="0"/>
              </a:rPr>
              <a:t>Language </a:t>
            </a:r>
            <a:r>
              <a:rPr lang="en-IN" sz="2000" dirty="0">
                <a:solidFill>
                  <a:srgbClr val="000000"/>
                </a:solidFill>
                <a:latin typeface="Cambria Math" panose="02040503050406030204" pitchFamily="18" charset="0"/>
                <a:ea typeface="Times New Roman" panose="02020603050405020304" pitchFamily="18" charset="0"/>
                <a:cs typeface="Cambria Math" panose="02040503050406030204" pitchFamily="18" charset="0"/>
              </a:rPr>
              <a:t>−</a:t>
            </a:r>
            <a:r>
              <a:rPr lang="en-IN" sz="2000" dirty="0">
                <a:solidFill>
                  <a:srgbClr val="000000"/>
                </a:solidFill>
                <a:latin typeface="Calibri" panose="020F0502020204030204" pitchFamily="34" charset="0"/>
                <a:ea typeface="Times New Roman" panose="02020603050405020304" pitchFamily="18" charset="0"/>
                <a:cs typeface="Calibri" panose="020F0502020204030204" pitchFamily="34" charset="0"/>
              </a:rPr>
              <a:t> This attribute specifies what scripting language you are using. Typically, its value will be </a:t>
            </a:r>
            <a:r>
              <a:rPr lang="en-IN" sz="2000" dirty="0" err="1">
                <a:solidFill>
                  <a:srgbClr val="000000"/>
                </a:solidFill>
                <a:latin typeface="Calibri" panose="020F0502020204030204" pitchFamily="34" charset="0"/>
                <a:ea typeface="Times New Roman" panose="02020603050405020304" pitchFamily="18" charset="0"/>
                <a:cs typeface="Calibri" panose="020F0502020204030204" pitchFamily="34" charset="0"/>
              </a:rPr>
              <a:t>javascript</a:t>
            </a:r>
            <a:r>
              <a:rPr lang="en-IN" sz="2000" dirty="0">
                <a:solidFill>
                  <a:srgbClr val="000000"/>
                </a:solidFill>
                <a:latin typeface="Calibri" panose="020F0502020204030204" pitchFamily="34" charset="0"/>
                <a:ea typeface="Times New Roman" panose="02020603050405020304" pitchFamily="18" charset="0"/>
                <a:cs typeface="Calibri" panose="020F0502020204030204" pitchFamily="34" charset="0"/>
              </a:rPr>
              <a:t>. Although recent versions of HTML (and XHTML, its successor) have phased out the use of this attribute.</a:t>
            </a:r>
            <a:endParaRPr lang="en-IN" sz="2000" dirty="0">
              <a:latin typeface="Calibri" panose="020F0502020204030204" pitchFamily="34" charset="0"/>
              <a:ea typeface="Times New Roman" panose="02020603050405020304" pitchFamily="18" charset="0"/>
              <a:cs typeface="Times New Roman" panose="02020603050405020304" pitchFamily="18" charset="0"/>
            </a:endParaRPr>
          </a:p>
          <a:p>
            <a:pPr>
              <a:lnSpc>
                <a:spcPct val="115000"/>
              </a:lnSpc>
              <a:spcAft>
                <a:spcPts val="1000"/>
              </a:spcAft>
            </a:pPr>
            <a:r>
              <a:rPr lang="en-IN" sz="2000" dirty="0">
                <a:solidFill>
                  <a:srgbClr val="000000"/>
                </a:solidFill>
                <a:latin typeface="Calibri" panose="020F0502020204030204" pitchFamily="34" charset="0"/>
                <a:ea typeface="Times New Roman" panose="02020603050405020304" pitchFamily="18" charset="0"/>
                <a:cs typeface="Calibri" panose="020F0502020204030204" pitchFamily="34" charset="0"/>
              </a:rPr>
              <a:t> </a:t>
            </a:r>
            <a:endParaRPr lang="en-IN" sz="2000" dirty="0">
              <a:latin typeface="Calibri" panose="020F0502020204030204" pitchFamily="34" charset="0"/>
              <a:ea typeface="Times New Roman" panose="02020603050405020304" pitchFamily="18" charset="0"/>
              <a:cs typeface="Times New Roman" panose="02020603050405020304" pitchFamily="18" charset="0"/>
            </a:endParaRPr>
          </a:p>
          <a:p>
            <a:pPr>
              <a:lnSpc>
                <a:spcPct val="115000"/>
              </a:lnSpc>
              <a:spcAft>
                <a:spcPts val="1000"/>
              </a:spcAft>
            </a:pPr>
            <a:r>
              <a:rPr lang="en-IN" sz="2000" dirty="0">
                <a:solidFill>
                  <a:srgbClr val="000000"/>
                </a:solidFill>
                <a:latin typeface="Calibri" panose="020F0502020204030204" pitchFamily="34" charset="0"/>
                <a:ea typeface="Times New Roman" panose="02020603050405020304" pitchFamily="18" charset="0"/>
                <a:cs typeface="Calibri" panose="020F0502020204030204" pitchFamily="34" charset="0"/>
              </a:rPr>
              <a:t>Type </a:t>
            </a:r>
            <a:r>
              <a:rPr lang="en-IN" sz="2000" dirty="0">
                <a:solidFill>
                  <a:srgbClr val="000000"/>
                </a:solidFill>
                <a:latin typeface="Cambria Math" panose="02040503050406030204" pitchFamily="18" charset="0"/>
                <a:ea typeface="Times New Roman" panose="02020603050405020304" pitchFamily="18" charset="0"/>
                <a:cs typeface="Cambria Math" panose="02040503050406030204" pitchFamily="18" charset="0"/>
              </a:rPr>
              <a:t>−</a:t>
            </a:r>
            <a:r>
              <a:rPr lang="en-IN" sz="2000" dirty="0">
                <a:solidFill>
                  <a:srgbClr val="000000"/>
                </a:solidFill>
                <a:latin typeface="Calibri" panose="020F0502020204030204" pitchFamily="34" charset="0"/>
                <a:ea typeface="Times New Roman" panose="02020603050405020304" pitchFamily="18" charset="0"/>
                <a:cs typeface="Calibri" panose="020F0502020204030204" pitchFamily="34" charset="0"/>
              </a:rPr>
              <a:t> This attribute is what is now recommended to indicate the scripting language in use and its value should be set to "text/</a:t>
            </a:r>
            <a:r>
              <a:rPr lang="en-IN" sz="2000" dirty="0" err="1">
                <a:solidFill>
                  <a:srgbClr val="000000"/>
                </a:solidFill>
                <a:latin typeface="Calibri" panose="020F0502020204030204" pitchFamily="34" charset="0"/>
                <a:ea typeface="Times New Roman" panose="02020603050405020304" pitchFamily="18" charset="0"/>
                <a:cs typeface="Calibri" panose="020F0502020204030204" pitchFamily="34" charset="0"/>
              </a:rPr>
              <a:t>javascript</a:t>
            </a:r>
            <a:r>
              <a:rPr lang="en-IN" sz="2000" dirty="0">
                <a:solidFill>
                  <a:srgbClr val="000000"/>
                </a:solidFill>
                <a:latin typeface="Calibri" panose="020F0502020204030204" pitchFamily="34" charset="0"/>
                <a:ea typeface="Times New Roman" panose="02020603050405020304" pitchFamily="18" charset="0"/>
                <a:cs typeface="Calibri" panose="020F0502020204030204" pitchFamily="34" charset="0"/>
              </a:rPr>
              <a:t>".</a:t>
            </a:r>
            <a:endParaRPr lang="en-IN" sz="2000" dirty="0">
              <a:latin typeface="Calibri" panose="020F0502020204030204" pitchFamily="34" charset="0"/>
              <a:ea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729440834"/>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378823" y="0"/>
            <a:ext cx="10289177" cy="2416629"/>
          </a:xfrm>
        </p:spPr>
        <p:txBody>
          <a:bodyPr>
            <a:normAutofit/>
          </a:bodyPr>
          <a:lstStyle/>
          <a:p>
            <a:r>
              <a:rPr lang="en-IN" sz="3200" dirty="0">
                <a:solidFill>
                  <a:srgbClr val="FF0000"/>
                </a:solidFill>
              </a:rPr>
              <a:t>Applications of JavaScript</a:t>
            </a:r>
            <a:r>
              <a:rPr lang="en-IN" sz="3200" dirty="0" smtClean="0">
                <a:solidFill>
                  <a:srgbClr val="FF0000"/>
                </a:solidFill>
              </a:rPr>
              <a:t>:</a:t>
            </a:r>
            <a:br>
              <a:rPr lang="en-IN" sz="3200" dirty="0" smtClean="0">
                <a:solidFill>
                  <a:srgbClr val="FF0000"/>
                </a:solidFill>
              </a:rPr>
            </a:br>
            <a:r>
              <a:rPr lang="en-IN" sz="3200" dirty="0" smtClean="0">
                <a:solidFill>
                  <a:srgbClr val="FF0000"/>
                </a:solidFill>
              </a:rPr>
              <a:t> </a:t>
            </a:r>
            <a:r>
              <a:rPr lang="en-IN" dirty="0"/>
              <a:t/>
            </a:r>
            <a:br>
              <a:rPr lang="en-IN" dirty="0"/>
            </a:br>
            <a:endParaRPr lang="en-IN" dirty="0"/>
          </a:p>
        </p:txBody>
      </p:sp>
      <p:sp>
        <p:nvSpPr>
          <p:cNvPr id="3" name="Subtitle 2"/>
          <p:cNvSpPr>
            <a:spLocks noGrp="1"/>
          </p:cNvSpPr>
          <p:nvPr>
            <p:ph type="subTitle" idx="1"/>
          </p:nvPr>
        </p:nvSpPr>
        <p:spPr>
          <a:xfrm>
            <a:off x="496389" y="1476103"/>
            <a:ext cx="11247120" cy="5277393"/>
          </a:xfrm>
        </p:spPr>
        <p:txBody>
          <a:bodyPr>
            <a:normAutofit fontScale="77500" lnSpcReduction="20000"/>
          </a:bodyPr>
          <a:lstStyle/>
          <a:p>
            <a:r>
              <a:rPr lang="en-US" dirty="0"/>
              <a:t>1. Web Development:-JavaScript is a scripting language used to develop web </a:t>
            </a:r>
            <a:r>
              <a:rPr lang="en-US" dirty="0" smtClean="0"/>
              <a:t>pages. </a:t>
            </a:r>
            <a:endParaRPr lang="en-IN" dirty="0" smtClean="0"/>
          </a:p>
          <a:p>
            <a:r>
              <a:rPr lang="en-US" dirty="0" smtClean="0"/>
              <a:t>  2. Web Applications:-Various JavaScript frameworks are used for developing and building robust web applications. In an application like Google Maps, if users want to explore a map, all they have to do is click and drag the mouse to get a detailed view.</a:t>
            </a:r>
            <a:endParaRPr lang="en-IN" dirty="0" smtClean="0"/>
          </a:p>
          <a:p>
            <a:r>
              <a:rPr lang="en-US" dirty="0" smtClean="0"/>
              <a:t>         3</a:t>
            </a:r>
            <a:r>
              <a:rPr lang="en-US" dirty="0"/>
              <a:t>. Presentations:-A very popular application of JavaScript is to create interactive presentations as </a:t>
            </a:r>
            <a:r>
              <a:rPr lang="en-US" dirty="0" smtClean="0"/>
              <a:t>websites.</a:t>
            </a:r>
          </a:p>
          <a:p>
            <a:r>
              <a:rPr lang="en-US" dirty="0" smtClean="0"/>
              <a:t>            4. Server Applications:-JavaScript is also used to write server-side software through Node.js open-source runtime environment. Developers can write, test and debug code for fast and scalable network applications. </a:t>
            </a:r>
            <a:endParaRPr lang="en-IN" dirty="0" smtClean="0"/>
          </a:p>
          <a:p>
            <a:r>
              <a:rPr lang="en-US" dirty="0" smtClean="0"/>
              <a:t>5</a:t>
            </a:r>
            <a:r>
              <a:rPr lang="en-US" dirty="0"/>
              <a:t>. Web Servers:-Node.js allows developers to use JavaScript to create a web server. Node.js being event-driven, it moves to the next call without waiting for the response of the previous call.</a:t>
            </a:r>
            <a:endParaRPr lang="en-IN" dirty="0"/>
          </a:p>
          <a:p>
            <a:r>
              <a:rPr lang="en-US" dirty="0"/>
              <a:t>6. Games:-Creating games on the web is another important one among applications of JavaScript. The combination of JavaScript and HTML5 plays a major role in games development using JS.</a:t>
            </a:r>
            <a:endParaRPr lang="en-IN" dirty="0"/>
          </a:p>
          <a:p>
            <a:r>
              <a:rPr lang="en-US" dirty="0"/>
              <a:t>7. Art:-A recent feature of HTML5 in JavaScript is the canvas element, which allows drawing 2D and 3D graphics easily on a web page.</a:t>
            </a:r>
            <a:endParaRPr lang="en-IN" dirty="0"/>
          </a:p>
          <a:p>
            <a:r>
              <a:rPr lang="en-US" dirty="0"/>
              <a:t>8. Smartwatch Apps:-Pebble.js is a JavaScript framework by Pebble, allowing developers to create applications for Pebble watches using JavaScript. Create a smartwatch app with simple JavaScript code. </a:t>
            </a:r>
            <a:endParaRPr lang="en-IN" dirty="0"/>
          </a:p>
          <a:p>
            <a:r>
              <a:rPr lang="en-US" dirty="0"/>
              <a:t>9. Mobile Apps:-One of the most powerful applications of JavaScript is to create apps for non-web contexts, meaning for things, not on the Internet using mobile devices.</a:t>
            </a:r>
            <a:endParaRPr lang="en-IN" dirty="0"/>
          </a:p>
          <a:p>
            <a:r>
              <a:rPr lang="en-US" dirty="0"/>
              <a:t>10. Flying Robots:-Last but not least, you can use JavaScript to program a flying robot.</a:t>
            </a:r>
            <a:endParaRPr lang="en-US" dirty="0" smtClean="0"/>
          </a:p>
          <a:p>
            <a:endParaRPr lang="en-IN" dirty="0"/>
          </a:p>
          <a:p>
            <a:endParaRPr lang="en-IN" dirty="0"/>
          </a:p>
        </p:txBody>
      </p:sp>
    </p:spTree>
    <p:extLst>
      <p:ext uri="{BB962C8B-B14F-4D97-AF65-F5344CB8AC3E}">
        <p14:creationId xmlns:p14="http://schemas.microsoft.com/office/powerpoint/2010/main" val="2498886467"/>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031966" y="535577"/>
            <a:ext cx="9636034" cy="2207623"/>
          </a:xfrm>
        </p:spPr>
        <p:txBody>
          <a:bodyPr>
            <a:normAutofit fontScale="90000"/>
          </a:bodyPr>
          <a:lstStyle/>
          <a:p>
            <a:pPr algn="l"/>
            <a:r>
              <a:rPr lang="en-US" sz="2000" b="1" dirty="0" smtClean="0">
                <a:solidFill>
                  <a:srgbClr val="FF0000"/>
                </a:solidFill>
              </a:rPr>
              <a:t>Limitations of JavaScript: </a:t>
            </a:r>
            <a:r>
              <a:rPr lang="en-US" sz="1300" b="1" dirty="0" smtClean="0"/>
              <a:t/>
            </a:r>
            <a:br>
              <a:rPr lang="en-US" sz="1300" b="1" dirty="0" smtClean="0"/>
            </a:br>
            <a:r>
              <a:rPr lang="en-IN" sz="2000" dirty="0"/>
              <a:t/>
            </a:r>
            <a:br>
              <a:rPr lang="en-IN" sz="2000" dirty="0"/>
            </a:br>
            <a:r>
              <a:rPr lang="en-US" sz="2000" dirty="0"/>
              <a:t>Client-side JavaScript does not allow the reading or writing of files. It has been kept for the security reason.</a:t>
            </a:r>
            <a:r>
              <a:rPr lang="en-IN" sz="2000" dirty="0"/>
              <a:t/>
            </a:r>
            <a:br>
              <a:rPr lang="en-IN" sz="2000" dirty="0"/>
            </a:br>
            <a:r>
              <a:rPr lang="en-US" sz="2000" dirty="0"/>
              <a:t>JavaScript could not used for networking applications because there is no such support available.</a:t>
            </a:r>
            <a:r>
              <a:rPr lang="en-IN" sz="2000" dirty="0"/>
              <a:t/>
            </a:r>
            <a:br>
              <a:rPr lang="en-IN" sz="2000" dirty="0"/>
            </a:br>
            <a:r>
              <a:rPr lang="en-US" sz="2000" dirty="0"/>
              <a:t>JavaScript doesn't have any multithreading or multiprocessor capabilities.</a:t>
            </a:r>
            <a:r>
              <a:rPr lang="en-IN" sz="2000" dirty="0"/>
              <a:t/>
            </a:r>
            <a:br>
              <a:rPr lang="en-IN" sz="2000" dirty="0"/>
            </a:br>
            <a:endParaRPr lang="en-IN" sz="2000" dirty="0"/>
          </a:p>
        </p:txBody>
      </p:sp>
      <p:sp>
        <p:nvSpPr>
          <p:cNvPr id="3" name="Subtitle 2"/>
          <p:cNvSpPr>
            <a:spLocks noGrp="1"/>
          </p:cNvSpPr>
          <p:nvPr>
            <p:ph type="subTitle" idx="1"/>
          </p:nvPr>
        </p:nvSpPr>
        <p:spPr>
          <a:xfrm>
            <a:off x="1031967" y="2952206"/>
            <a:ext cx="9636034" cy="3422468"/>
          </a:xfrm>
        </p:spPr>
        <p:txBody>
          <a:bodyPr>
            <a:normAutofit lnSpcReduction="10000"/>
          </a:bodyPr>
          <a:lstStyle/>
          <a:p>
            <a:r>
              <a:rPr lang="en-US" dirty="0"/>
              <a:t> </a:t>
            </a:r>
            <a:endParaRPr lang="en-IN" dirty="0"/>
          </a:p>
          <a:p>
            <a:pPr algn="l"/>
            <a:r>
              <a:rPr lang="en-IN" dirty="0">
                <a:solidFill>
                  <a:srgbClr val="FF0000"/>
                </a:solidFill>
              </a:rPr>
              <a:t>Is JavaScript compiled or interpreted or both</a:t>
            </a:r>
            <a:r>
              <a:rPr lang="en-IN" dirty="0" smtClean="0">
                <a:solidFill>
                  <a:srgbClr val="FF0000"/>
                </a:solidFill>
              </a:rPr>
              <a:t>?</a:t>
            </a:r>
          </a:p>
          <a:p>
            <a:pPr algn="l"/>
            <a:r>
              <a:rPr lang="en-IN" dirty="0">
                <a:latin typeface="+mj-lt"/>
              </a:rPr>
              <a:t>JavaScript is both compiled and interpreted. In the earlier versions of JavaScript, it used only the interpreter that executed code line by line and shows the result immediately. But with time the performance became an issue as interpretation is quite slow. Therefore, in the newer versions of JS, probably after the V8, JIT compiler was also incorporated to optimize the execution and display the result more quickly. This JIT compiler generates a bytecode that is relatively easier to code. This bytecode is a set of highly optimized instructions. </a:t>
            </a:r>
          </a:p>
          <a:p>
            <a:pPr algn="l"/>
            <a:endParaRPr lang="en-IN" dirty="0">
              <a:solidFill>
                <a:srgbClr val="FF0000"/>
              </a:solidFill>
            </a:endParaRPr>
          </a:p>
          <a:p>
            <a:endParaRPr lang="en-IN" dirty="0"/>
          </a:p>
        </p:txBody>
      </p:sp>
    </p:spTree>
    <p:extLst>
      <p:ext uri="{BB962C8B-B14F-4D97-AF65-F5344CB8AC3E}">
        <p14:creationId xmlns:p14="http://schemas.microsoft.com/office/powerpoint/2010/main" val="1125147595"/>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0"/>
            <a:ext cx="9144000" cy="1515291"/>
          </a:xfrm>
        </p:spPr>
        <p:txBody>
          <a:bodyPr>
            <a:normAutofit/>
          </a:bodyPr>
          <a:lstStyle/>
          <a:p>
            <a:pPr algn="l"/>
            <a:r>
              <a:rPr lang="en-IN" sz="2400" b="1" dirty="0">
                <a:solidFill>
                  <a:srgbClr val="FF0000"/>
                </a:solidFill>
              </a:rPr>
              <a:t>Hello World using </a:t>
            </a:r>
            <a:r>
              <a:rPr lang="en-IN" sz="2400" b="1" dirty="0" err="1">
                <a:solidFill>
                  <a:srgbClr val="FF0000"/>
                </a:solidFill>
              </a:rPr>
              <a:t>Javascript</a:t>
            </a:r>
            <a:r>
              <a:rPr lang="en-IN" dirty="0">
                <a:solidFill>
                  <a:srgbClr val="FF0000"/>
                </a:solidFill>
              </a:rPr>
              <a:t/>
            </a:r>
            <a:br>
              <a:rPr lang="en-IN" dirty="0">
                <a:solidFill>
                  <a:srgbClr val="FF0000"/>
                </a:solidFill>
              </a:rPr>
            </a:br>
            <a:endParaRPr lang="en-IN" dirty="0">
              <a:solidFill>
                <a:srgbClr val="FF0000"/>
              </a:solidFill>
            </a:endParaRPr>
          </a:p>
        </p:txBody>
      </p:sp>
      <p:sp>
        <p:nvSpPr>
          <p:cNvPr id="3" name="Subtitle 2"/>
          <p:cNvSpPr>
            <a:spLocks noGrp="1"/>
          </p:cNvSpPr>
          <p:nvPr>
            <p:ph type="subTitle" idx="1"/>
          </p:nvPr>
        </p:nvSpPr>
        <p:spPr>
          <a:xfrm>
            <a:off x="692331" y="783771"/>
            <a:ext cx="9975669" cy="6074229"/>
          </a:xfrm>
        </p:spPr>
        <p:txBody>
          <a:bodyPr/>
          <a:lstStyle/>
          <a:p>
            <a:r>
              <a:rPr lang="en-IN" dirty="0" err="1" smtClean="0"/>
              <a:t>Javascript</a:t>
            </a:r>
            <a:r>
              <a:rPr lang="en-IN" dirty="0" smtClean="0"/>
              <a:t> </a:t>
            </a:r>
            <a:r>
              <a:rPr lang="en-IN" dirty="0"/>
              <a:t>Hello World program, </a:t>
            </a:r>
            <a:r>
              <a:rPr lang="en-IN" dirty="0" smtClean="0"/>
              <a:t>using </a:t>
            </a:r>
            <a:r>
              <a:rPr lang="en-IN" dirty="0"/>
              <a:t>Demo link</a:t>
            </a:r>
          </a:p>
          <a:p>
            <a:r>
              <a:rPr lang="en-IN" sz="2800" b="1" dirty="0"/>
              <a:t>&lt;html&gt;</a:t>
            </a:r>
            <a:endParaRPr lang="en-IN" sz="2800" dirty="0"/>
          </a:p>
          <a:p>
            <a:r>
              <a:rPr lang="en-IN" sz="2800" b="1" dirty="0"/>
              <a:t>   &lt;body&gt;   </a:t>
            </a:r>
            <a:endParaRPr lang="en-IN" sz="2800" dirty="0"/>
          </a:p>
          <a:p>
            <a:r>
              <a:rPr lang="en-IN" sz="2800" b="1" dirty="0"/>
              <a:t>      &lt;script language = "</a:t>
            </a:r>
            <a:r>
              <a:rPr lang="en-IN" sz="2800" b="1" dirty="0" err="1"/>
              <a:t>javascript</a:t>
            </a:r>
            <a:r>
              <a:rPr lang="en-IN" sz="2800" b="1" dirty="0"/>
              <a:t>" type = "text/</a:t>
            </a:r>
            <a:r>
              <a:rPr lang="en-IN" sz="2800" b="1" dirty="0" err="1"/>
              <a:t>javascript</a:t>
            </a:r>
            <a:r>
              <a:rPr lang="en-IN" sz="2800" b="1" dirty="0"/>
              <a:t>"&gt;</a:t>
            </a:r>
            <a:endParaRPr lang="en-IN" sz="2800" dirty="0"/>
          </a:p>
          <a:p>
            <a:r>
              <a:rPr lang="en-IN" sz="2800" b="1" dirty="0"/>
              <a:t>         &lt;!--</a:t>
            </a:r>
            <a:endParaRPr lang="en-IN" sz="2800" dirty="0"/>
          </a:p>
          <a:p>
            <a:r>
              <a:rPr lang="en-IN" sz="2800" b="1" dirty="0"/>
              <a:t>            </a:t>
            </a:r>
            <a:r>
              <a:rPr lang="en-IN" sz="2800" b="1" dirty="0" err="1"/>
              <a:t>document.write</a:t>
            </a:r>
            <a:r>
              <a:rPr lang="en-IN" sz="2800" b="1" dirty="0"/>
              <a:t>("Hello World!")</a:t>
            </a:r>
            <a:endParaRPr lang="en-IN" sz="2800" dirty="0"/>
          </a:p>
          <a:p>
            <a:r>
              <a:rPr lang="en-IN" sz="2800" b="1" dirty="0"/>
              <a:t>         //--&gt;</a:t>
            </a:r>
            <a:endParaRPr lang="en-IN" sz="2800" dirty="0"/>
          </a:p>
          <a:p>
            <a:r>
              <a:rPr lang="en-IN" sz="2800" b="1" dirty="0"/>
              <a:t>      &lt;/script&gt;      </a:t>
            </a:r>
            <a:endParaRPr lang="en-IN" sz="2800" dirty="0"/>
          </a:p>
          <a:p>
            <a:r>
              <a:rPr lang="en-IN" sz="2800" b="1" dirty="0"/>
              <a:t>   &lt;/body&gt;</a:t>
            </a:r>
            <a:endParaRPr lang="en-IN" sz="2800" dirty="0"/>
          </a:p>
          <a:p>
            <a:r>
              <a:rPr lang="en-IN" sz="2800" b="1" dirty="0"/>
              <a:t>&lt;/html&gt;</a:t>
            </a:r>
            <a:endParaRPr lang="en-IN" sz="2800" dirty="0"/>
          </a:p>
        </p:txBody>
      </p:sp>
    </p:spTree>
    <p:extLst>
      <p:ext uri="{BB962C8B-B14F-4D97-AF65-F5344CB8AC3E}">
        <p14:creationId xmlns:p14="http://schemas.microsoft.com/office/powerpoint/2010/main" val="2624864996"/>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744583" y="431074"/>
            <a:ext cx="9923417" cy="1293223"/>
          </a:xfrm>
        </p:spPr>
        <p:txBody>
          <a:bodyPr>
            <a:normAutofit/>
          </a:bodyPr>
          <a:lstStyle/>
          <a:p>
            <a:pPr algn="l"/>
            <a:r>
              <a:rPr lang="en-IN" sz="2800" b="1" dirty="0">
                <a:solidFill>
                  <a:srgbClr val="FF0000"/>
                </a:solidFill>
              </a:rPr>
              <a:t>Advantages of JavaScript</a:t>
            </a:r>
            <a:r>
              <a:rPr lang="en-IN" sz="2800" dirty="0">
                <a:solidFill>
                  <a:srgbClr val="FF0000"/>
                </a:solidFill>
              </a:rPr>
              <a:t/>
            </a:r>
            <a:br>
              <a:rPr lang="en-IN" sz="2800" dirty="0">
                <a:solidFill>
                  <a:srgbClr val="FF0000"/>
                </a:solidFill>
              </a:rPr>
            </a:br>
            <a:r>
              <a:rPr lang="en-IN" sz="2800" b="1" dirty="0">
                <a:solidFill>
                  <a:srgbClr val="FF0000"/>
                </a:solidFill>
              </a:rPr>
              <a:t>The merits of using JavaScript are −</a:t>
            </a:r>
            <a:r>
              <a:rPr lang="en-IN" sz="2800" dirty="0">
                <a:solidFill>
                  <a:srgbClr val="FF0000"/>
                </a:solidFill>
              </a:rPr>
              <a:t/>
            </a:r>
            <a:br>
              <a:rPr lang="en-IN" sz="2800" dirty="0">
                <a:solidFill>
                  <a:srgbClr val="FF0000"/>
                </a:solidFill>
              </a:rPr>
            </a:br>
            <a:endParaRPr lang="en-IN" sz="2800" dirty="0">
              <a:solidFill>
                <a:srgbClr val="FF0000"/>
              </a:solidFill>
            </a:endParaRPr>
          </a:p>
        </p:txBody>
      </p:sp>
      <p:sp>
        <p:nvSpPr>
          <p:cNvPr id="3" name="Subtitle 2"/>
          <p:cNvSpPr>
            <a:spLocks noGrp="1"/>
          </p:cNvSpPr>
          <p:nvPr>
            <p:ph type="subTitle" idx="1"/>
          </p:nvPr>
        </p:nvSpPr>
        <p:spPr>
          <a:xfrm>
            <a:off x="653143" y="1985553"/>
            <a:ext cx="11142617" cy="4428309"/>
          </a:xfrm>
        </p:spPr>
        <p:txBody>
          <a:bodyPr>
            <a:normAutofit lnSpcReduction="10000"/>
          </a:bodyPr>
          <a:lstStyle/>
          <a:p>
            <a:r>
              <a:rPr lang="en-IN" dirty="0"/>
              <a:t>1.Less server interaction − You can validate user input before sending the page off to the server. This saves server traffic, which means less load on your server.</a:t>
            </a:r>
          </a:p>
          <a:p>
            <a:r>
              <a:rPr lang="en-IN" dirty="0"/>
              <a:t> </a:t>
            </a:r>
          </a:p>
          <a:p>
            <a:r>
              <a:rPr lang="en-IN" dirty="0"/>
              <a:t>2.Immediate feedback to the visitors − They don't have to wait for a page reload to see if they have forgotten to enter something.</a:t>
            </a:r>
          </a:p>
          <a:p>
            <a:r>
              <a:rPr lang="en-IN" dirty="0"/>
              <a:t> </a:t>
            </a:r>
          </a:p>
          <a:p>
            <a:r>
              <a:rPr lang="en-IN" dirty="0"/>
              <a:t>3.Increased interactivity − You can create interfaces that react when the user hovers over them with a mouse or activates them via the keyboard.</a:t>
            </a:r>
          </a:p>
          <a:p>
            <a:r>
              <a:rPr lang="en-IN" dirty="0"/>
              <a:t> </a:t>
            </a:r>
          </a:p>
          <a:p>
            <a:r>
              <a:rPr lang="en-IN" dirty="0"/>
              <a:t>4.Richer interfaces − You can use JavaScript to include such items as drag-and-drop components and sliders to give a Rich Interface to your site visitors.</a:t>
            </a:r>
          </a:p>
          <a:p>
            <a:endParaRPr lang="en-IN" dirty="0"/>
          </a:p>
        </p:txBody>
      </p:sp>
    </p:spTree>
    <p:extLst>
      <p:ext uri="{BB962C8B-B14F-4D97-AF65-F5344CB8AC3E}">
        <p14:creationId xmlns:p14="http://schemas.microsoft.com/office/powerpoint/2010/main" val="1088068467"/>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339634" y="235131"/>
            <a:ext cx="10907486" cy="1123406"/>
          </a:xfrm>
        </p:spPr>
        <p:txBody>
          <a:bodyPr>
            <a:normAutofit/>
          </a:bodyPr>
          <a:lstStyle/>
          <a:p>
            <a:pPr algn="l"/>
            <a:r>
              <a:rPr lang="en-IN" sz="2800" dirty="0">
                <a:solidFill>
                  <a:srgbClr val="FF0000"/>
                </a:solidFill>
              </a:rPr>
              <a:t>JavaScript Disadvantages:-</a:t>
            </a:r>
          </a:p>
        </p:txBody>
      </p:sp>
      <p:sp>
        <p:nvSpPr>
          <p:cNvPr id="3" name="Subtitle 2"/>
          <p:cNvSpPr>
            <a:spLocks noGrp="1"/>
          </p:cNvSpPr>
          <p:nvPr>
            <p:ph type="subTitle" idx="1"/>
          </p:nvPr>
        </p:nvSpPr>
        <p:spPr>
          <a:xfrm>
            <a:off x="339633" y="1358537"/>
            <a:ext cx="11534503" cy="5068389"/>
          </a:xfrm>
        </p:spPr>
        <p:txBody>
          <a:bodyPr>
            <a:normAutofit fontScale="70000" lnSpcReduction="20000"/>
          </a:bodyPr>
          <a:lstStyle/>
          <a:p>
            <a:pPr algn="l"/>
            <a:r>
              <a:rPr lang="en-IN" b="1" dirty="0"/>
              <a:t>Following are the disadvantages of JavaScript </a:t>
            </a:r>
            <a:r>
              <a:rPr lang="en-IN" b="1" dirty="0" smtClean="0"/>
              <a:t>−</a:t>
            </a:r>
          </a:p>
          <a:p>
            <a:r>
              <a:rPr lang="en-US" sz="2600" dirty="0" smtClean="0"/>
              <a:t>1. Cannot Debug − Although some HTML editors allow for debugging, they are not as effective as editors for C or C++. Additionally, the developer has a difficult time figuring out the issue because the browser doesn't display any errors.</a:t>
            </a:r>
            <a:endParaRPr lang="en-IN" sz="2600" dirty="0" smtClean="0"/>
          </a:p>
          <a:p>
            <a:r>
              <a:rPr lang="en-US" sz="2600" dirty="0"/>
              <a:t> </a:t>
            </a:r>
            <a:endParaRPr lang="en-IN" sz="2600" dirty="0"/>
          </a:p>
          <a:p>
            <a:r>
              <a:rPr lang="en-US" sz="2600" dirty="0" smtClean="0"/>
              <a:t>          2</a:t>
            </a:r>
            <a:r>
              <a:rPr lang="en-US" sz="2600" dirty="0"/>
              <a:t>. Unexpected stop of rendering − The website's entire JavaScript code can stop rendering due to a single error in the code. It appears to the user as though JavaScript is absent. The browsers, however, are very forgiving of these mistakes.</a:t>
            </a:r>
            <a:endParaRPr lang="en-IN" sz="2600" dirty="0"/>
          </a:p>
          <a:p>
            <a:r>
              <a:rPr lang="en-US" sz="2600" dirty="0"/>
              <a:t> </a:t>
            </a:r>
            <a:endParaRPr lang="en-IN" sz="2600" dirty="0"/>
          </a:p>
          <a:p>
            <a:r>
              <a:rPr lang="en-US" sz="2600" dirty="0" smtClean="0"/>
              <a:t>       3</a:t>
            </a:r>
            <a:r>
              <a:rPr lang="en-US" sz="2600" dirty="0"/>
              <a:t>. Client-side Security − The user can see the JavaScript code; it could be misused by others. These actions might involve using the source code anonymously. Additionally, it is very simple to insert code into the website that impair the security of data transmitted via the website.</a:t>
            </a:r>
            <a:endParaRPr lang="en-IN" sz="2600" dirty="0"/>
          </a:p>
          <a:p>
            <a:r>
              <a:rPr lang="en-US" sz="2600" dirty="0"/>
              <a:t> </a:t>
            </a:r>
            <a:endParaRPr lang="en-IN" sz="2600" dirty="0"/>
          </a:p>
          <a:p>
            <a:r>
              <a:rPr lang="en-US" sz="2600" dirty="0" smtClean="0"/>
              <a:t>     4</a:t>
            </a:r>
            <a:r>
              <a:rPr lang="en-US" sz="2600" dirty="0"/>
              <a:t>. Inheritance − JavaScript does not support multiple inheritance; only one inheritance is supported. This property of object-oriented languages might be necessary for some </a:t>
            </a:r>
            <a:r>
              <a:rPr lang="en-US" sz="2600" dirty="0" err="1"/>
              <a:t>programmes</a:t>
            </a:r>
            <a:r>
              <a:rPr lang="en-US" sz="2600" dirty="0"/>
              <a:t>.</a:t>
            </a:r>
            <a:endParaRPr lang="en-IN" sz="2600" dirty="0"/>
          </a:p>
          <a:p>
            <a:r>
              <a:rPr lang="en-US" sz="2600" dirty="0"/>
              <a:t> </a:t>
            </a:r>
            <a:endParaRPr lang="en-IN" sz="2600" dirty="0"/>
          </a:p>
          <a:p>
            <a:r>
              <a:rPr lang="en-US" sz="2600" dirty="0" smtClean="0"/>
              <a:t>    5.Browser </a:t>
            </a:r>
            <a:r>
              <a:rPr lang="en-US" sz="2600" dirty="0"/>
              <a:t>Support − Depending on the browser, JavaScript is interpreted differently. Therefore, before publication, the code needs to run on various platforms. We also need to check the older browsers because some new functions are not supported by them.</a:t>
            </a:r>
            <a:endParaRPr lang="en-IN" sz="2600" dirty="0"/>
          </a:p>
          <a:p>
            <a:endParaRPr lang="en-IN" dirty="0"/>
          </a:p>
        </p:txBody>
      </p:sp>
    </p:spTree>
    <p:extLst>
      <p:ext uri="{BB962C8B-B14F-4D97-AF65-F5344CB8AC3E}">
        <p14:creationId xmlns:p14="http://schemas.microsoft.com/office/powerpoint/2010/main" val="2900901016"/>
      </p:ext>
    </p:extLst>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1D9A78"/>
      </a:accent1>
      <a:accent2>
        <a:srgbClr val="8BC145"/>
      </a:accent2>
      <a:accent3>
        <a:srgbClr val="36AFCE"/>
      </a:accent3>
      <a:accent4>
        <a:srgbClr val="1D6FA9"/>
      </a:accent4>
      <a:accent5>
        <a:srgbClr val="B74919"/>
      </a:accent5>
      <a:accent6>
        <a:srgbClr val="F19D19"/>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AE6F2518-B084-4896-AF52-66CC2144AA26}"/>
    </a:ext>
  </a:extLst>
</a:theme>
</file>

<file path=docProps/app.xml><?xml version="1.0" encoding="utf-8"?>
<Properties xmlns="http://schemas.openxmlformats.org/officeDocument/2006/extended-properties" xmlns:vt="http://schemas.openxmlformats.org/officeDocument/2006/docPropsVTypes">
  <Template>Office Theme</Template>
  <TotalTime>26</TotalTime>
  <Words>786</Words>
  <Application>Microsoft Office PowerPoint</Application>
  <PresentationFormat>Widescreen</PresentationFormat>
  <Paragraphs>68</Paragraphs>
  <Slides>9</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9</vt:i4>
      </vt:variant>
    </vt:vector>
  </HeadingPairs>
  <TitlesOfParts>
    <vt:vector size="15" baseType="lpstr">
      <vt:lpstr>Arial</vt:lpstr>
      <vt:lpstr>Calibri</vt:lpstr>
      <vt:lpstr>Calibri Light</vt:lpstr>
      <vt:lpstr>Cambria Math</vt:lpstr>
      <vt:lpstr>Times New Roman</vt:lpstr>
      <vt:lpstr>Office Theme</vt:lpstr>
      <vt:lpstr>Introduction</vt:lpstr>
      <vt:lpstr>What is JavaScript? </vt:lpstr>
      <vt:lpstr>PowerPoint Presentation</vt:lpstr>
      <vt:lpstr>PowerPoint Presentation</vt:lpstr>
      <vt:lpstr>Applications of JavaScript:   </vt:lpstr>
      <vt:lpstr>Limitations of JavaScript:   Client-side JavaScript does not allow the reading or writing of files. It has been kept for the security reason. JavaScript could not used for networking applications because there is no such support available. JavaScript doesn't have any multithreading or multiprocessor capabilities. </vt:lpstr>
      <vt:lpstr>Hello World using Javascript </vt:lpstr>
      <vt:lpstr>Advantages of JavaScript The merits of using JavaScript are − </vt:lpstr>
      <vt:lpstr>JavaScript Disadvantages:-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Introduction</dc:title>
  <dc:creator>Admin</dc:creator>
  <cp:lastModifiedBy>Admin</cp:lastModifiedBy>
  <cp:revision>4</cp:revision>
  <dcterms:created xsi:type="dcterms:W3CDTF">2022-09-14T13:50:41Z</dcterms:created>
  <dcterms:modified xsi:type="dcterms:W3CDTF">2022-09-14T14:17:01Z</dcterms:modified>
</cp:coreProperties>
</file>